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arm_sunlit_still_life_flatlay_scene_in_a_cozy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18">
              <a:alpha val="78000"/>
            </a:srgbClr>
          </a:solidFill>
          <a:ln w="12700">
            <a:solidFill>
              <a:srgbClr val="1E1B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12064" y="457200"/>
            <a:ext cx="11155680" cy="5943600"/>
          </a:xfrm>
          <a:prstGeom prst="rect">
            <a:avLst/>
          </a:prstGeom>
          <a:solidFill>
            <a:srgbClr val="000000">
              <a:alpha val="22000"/>
            </a:srgbClr>
          </a:solidFill>
          <a:ln w="8890">
            <a:solidFill>
              <a:srgbClr val="F7F1E8">
                <a:alpha val="3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7498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ARAHKAII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184708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A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PARTNERSHIP PACKAGE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" y="2423160"/>
            <a:ext cx="6583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Editorial Brand Marketing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Values-Led Luxury Brands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77240" y="46634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E5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strategy • storytelling • design production • social systems • partnership campaigns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818120" y="57424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beautifully, with intention.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5532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premium media + brand studio built for intentional growth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965960"/>
            <a:ext cx="56692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Arahkaii helps aligned brands become more discoverable, more desirable and more consistent across every customer touchpoint — without relying on generic content or noisy advertising.</a:t>
            </a:r>
            <a:endParaRPr lang="en-US" sz="1250" dirty="0"/>
          </a:p>
        </p:txBody>
      </p:sp>
      <p:pic>
        <p:nvPicPr>
          <p:cNvPr id="5" name="Image 0" descr="/mnt/data/a_high_end_flatlay_still_life_on_a_neutral_beige_c.png">    </p:cNvPr>
          <p:cNvPicPr>
            <a:picLocks noChangeAspect="1"/>
          </p:cNvPicPr>
          <p:nvPr/>
        </p:nvPicPr>
        <p:blipFill>
          <a:blip r:embed="rId1"/>
          <a:srcRect l="55000" r="-47968" t="50000" b="-35000"/>
          <a:stretch/>
        </p:blipFill>
        <p:spPr>
          <a:xfrm>
            <a:off x="6720840" y="566928"/>
            <a:ext cx="4709160" cy="2423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3232" y="3520440"/>
            <a:ext cx="3291840" cy="1243584"/>
          </a:xfrm>
          <a:prstGeom prst="rect">
            <a:avLst/>
          </a:prstGeom>
          <a:solidFill>
            <a:srgbClr val="F4F0E7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3520440"/>
            <a:ext cx="45720" cy="1243584"/>
          </a:xfrm>
          <a:prstGeom prst="rect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366674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clients buy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77824" y="4023360"/>
            <a:ext cx="296265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professional brand system, editorial narrative, social templates, partnership content and performance-ready campaign assets.</a:t>
            </a:r>
            <a:endParaRPr lang="en-US" sz="840" dirty="0"/>
          </a:p>
        </p:txBody>
      </p:sp>
      <p:sp>
        <p:nvSpPr>
          <p:cNvPr id="10" name="Shape 7"/>
          <p:cNvSpPr/>
          <p:nvPr/>
        </p:nvSpPr>
        <p:spPr>
          <a:xfrm>
            <a:off x="4224528" y="3520440"/>
            <a:ext cx="3291840" cy="1243584"/>
          </a:xfrm>
          <a:prstGeom prst="rect">
            <a:avLst/>
          </a:prstGeom>
          <a:solidFill>
            <a:srgbClr val="F4F0E7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24528" y="3520440"/>
            <a:ext cx="45720" cy="1243584"/>
          </a:xfrm>
          <a:prstGeom prst="rect">
            <a:avLst/>
          </a:prstGeom>
          <a:solidFill>
            <a:srgbClr val="8C9274"/>
          </a:solidFill>
          <a:ln w="12700">
            <a:solidFill>
              <a:srgbClr val="8C927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0" y="366674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clients feel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89120" y="4023360"/>
            <a:ext cx="296265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Clarity, confidence and a premium positioning they can use everywhere: website, social, pitch decks, newsletters and campaigns.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7735824" y="3520440"/>
            <a:ext cx="3291840" cy="1243584"/>
          </a:xfrm>
          <a:prstGeom prst="rect">
            <a:avLst/>
          </a:prstGeom>
          <a:solidFill>
            <a:srgbClr val="F4F0E7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35824" y="3520440"/>
            <a:ext cx="45720" cy="1243584"/>
          </a:xfrm>
          <a:prstGeom prst="rect">
            <a:avLst/>
          </a:prstGeom>
          <a:solidFill>
            <a:srgbClr val="B98B7D"/>
          </a:solidFill>
          <a:ln w="12700">
            <a:solidFill>
              <a:srgbClr val="B98B7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00416" y="366674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clients get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900416" y="4023360"/>
            <a:ext cx="296265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ready-to-use design production kit plus a distribution plan built around editorial trust and values-aligned storytelling.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658368" y="6153912"/>
            <a:ext cx="10881360" cy="0"/>
          </a:xfrm>
          <a:prstGeom prst="line">
            <a:avLst/>
          </a:prstGeom>
          <a:noFill/>
          <a:ln w="10160">
            <a:solidFill>
              <a:srgbClr val="D9D0B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6345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ARAHKAII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92840" y="6355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Arahkaii sits in the market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965960"/>
            <a:ext cx="5303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Arahkaii bridges the gap between premium editorial media and practical brand marketing. We make brand strategy feel like culture — and make content consistent enough to scale.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65392" y="822960"/>
            <a:ext cx="2148840" cy="1901952"/>
          </a:xfrm>
          <a:prstGeom prst="rect">
            <a:avLst/>
          </a:prstGeom>
          <a:solidFill>
            <a:srgbClr val="F7F1E8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0" y="10058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766560" y="138988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Tatler-style prestige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766560" y="1938528"/>
            <a:ext cx="175564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People, fashion, culture, refinement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8979408" y="822960"/>
            <a:ext cx="2148840" cy="1901952"/>
          </a:xfrm>
          <a:prstGeom prst="rect">
            <a:avLst/>
          </a:prstGeom>
          <a:solidFill>
            <a:srgbClr val="F7F1E8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80576" y="10058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80576" y="138988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CNA-style utility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80576" y="1938528"/>
            <a:ext cx="175564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relevance, useful guides, service content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6565392" y="3337560"/>
            <a:ext cx="2148840" cy="1901952"/>
          </a:xfrm>
          <a:prstGeom prst="rect">
            <a:avLst/>
          </a:prstGeom>
          <a:solidFill>
            <a:srgbClr val="F7F1E8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35204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766560" y="390448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Muslim-conscious lens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766560" y="4453128"/>
            <a:ext cx="175564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Values-led curation without alcohol or nightlife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8979408" y="3337560"/>
            <a:ext cx="2148840" cy="1901952"/>
          </a:xfrm>
          <a:prstGeom prst="rect">
            <a:avLst/>
          </a:prstGeom>
          <a:solidFill>
            <a:srgbClr val="F7F1E8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80576" y="352044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80576" y="390448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Client-ready system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80576" y="4453128"/>
            <a:ext cx="175564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Templates, pitch assets, posts, reporting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58368" y="6153912"/>
            <a:ext cx="10881360" cy="0"/>
          </a:xfrm>
          <a:prstGeom prst="line">
            <a:avLst/>
          </a:prstGeom>
          <a:noFill/>
          <a:ln w="10160">
            <a:solidFill>
              <a:srgbClr val="D9D0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6345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ARAHKAII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92840" y="6355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VALUES-LED CURATION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lifestyle without compromising the brand standard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920240"/>
            <a:ext cx="5394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editorial system is aspirational, modern and inclusive — while protecting Arahkaii’s Muslim-conscious positioning.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822960" y="2788920"/>
            <a:ext cx="4983480" cy="2359152"/>
          </a:xfrm>
          <a:prstGeom prst="rect">
            <a:avLst/>
          </a:prstGeom>
          <a:solidFill>
            <a:srgbClr val="F7F1E8"/>
          </a:solidFill>
          <a:ln w="10160">
            <a:solidFill>
              <a:srgbClr val="8C9274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46520" y="2788920"/>
            <a:ext cx="4983480" cy="2359152"/>
          </a:xfrm>
          <a:prstGeom prst="rect">
            <a:avLst/>
          </a:prstGeom>
          <a:solidFill>
            <a:srgbClr val="F7F1E8"/>
          </a:solidFill>
          <a:ln w="10160">
            <a:solidFill>
              <a:srgbClr val="B98B7D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78992" y="3044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F4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AMPLIFY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702552" y="3044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AVOID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115568" y="3511296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44728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Halal / Muslim-friendly dining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115568" y="3822192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375818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Desserts, cafes, tea, matcha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1115568" y="4133088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406908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Modest luxury &amp; Asian designers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1115568" y="4443984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437997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Evening experiences without party framing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115568" y="4754880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69087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Beauty, wellness and city guides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739128" y="3511296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344728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Bars, beer, wine, cocktails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739128" y="3822192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375818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Nightclubs or party-first lifestyle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739128" y="4133088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406908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Gossip, scandal and clickbait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739128" y="4443984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437997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Over-sexualised fashion imagery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739128" y="4754880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469087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luxury without purpose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914400" y="5513832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4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makes Arahkaii attractive to values-aligned clients seeking a premium audience without brand-risk adjacency.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8368" y="6153912"/>
            <a:ext cx="10881360" cy="0"/>
          </a:xfrm>
          <a:prstGeom prst="line">
            <a:avLst/>
          </a:prstGeom>
          <a:noFill/>
          <a:ln w="10160">
            <a:solidFill>
              <a:srgbClr val="D9D0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6345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ARAHKAII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92840" y="6355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PRODUCTION KIT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a client needs to stay consistent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920240"/>
            <a:ext cx="48920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system of assets, templates and rules that turns strategy into a repeatable content machine.</a:t>
            </a:r>
            <a:endParaRPr lang="en-US" sz="1240" dirty="0"/>
          </a:p>
        </p:txBody>
      </p:sp>
      <p:pic>
        <p:nvPicPr>
          <p:cNvPr id="5" name="Image 0" descr="/mnt/data/a_clean_styled_flat_lay_mockup_photography_scen.png">    </p:cNvPr>
          <p:cNvPicPr>
            <a:picLocks noChangeAspect="1"/>
          </p:cNvPicPr>
          <p:nvPr/>
        </p:nvPicPr>
        <p:blipFill>
          <a:blip r:embed="rId1"/>
          <a:srcRect l="50000" r="-19700" t="50000" b="-42000"/>
          <a:stretch/>
        </p:blipFill>
        <p:spPr>
          <a:xfrm>
            <a:off x="6629400" y="685800"/>
            <a:ext cx="480060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401568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E1B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 suite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731520" y="364845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logo, monogram, editorial stamp</a:t>
            </a:r>
            <a:endParaRPr lang="en-US" sz="690" dirty="0"/>
          </a:p>
        </p:txBody>
      </p:sp>
      <p:sp>
        <p:nvSpPr>
          <p:cNvPr id="8" name="Text 5"/>
          <p:cNvSpPr/>
          <p:nvPr/>
        </p:nvSpPr>
        <p:spPr>
          <a:xfrm>
            <a:off x="2542032" y="3401568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E1B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 styles</a:t>
            </a:r>
            <a:endParaRPr lang="en-US" sz="840" dirty="0"/>
          </a:p>
        </p:txBody>
      </p:sp>
      <p:sp>
        <p:nvSpPr>
          <p:cNvPr id="9" name="Text 6"/>
          <p:cNvSpPr/>
          <p:nvPr/>
        </p:nvSpPr>
        <p:spPr>
          <a:xfrm>
            <a:off x="2542032" y="364845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Ivory, oat, date brown, sage, soft gold</a:t>
            </a:r>
            <a:endParaRPr lang="en-US" sz="690" dirty="0"/>
          </a:p>
        </p:txBody>
      </p:sp>
      <p:sp>
        <p:nvSpPr>
          <p:cNvPr id="10" name="Text 7"/>
          <p:cNvSpPr/>
          <p:nvPr/>
        </p:nvSpPr>
        <p:spPr>
          <a:xfrm>
            <a:off x="4352544" y="3401568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E1B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 rules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4352544" y="364845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Serif headlines + clean sans body system</a:t>
            </a:r>
            <a:endParaRPr lang="en-US" sz="690" dirty="0"/>
          </a:p>
        </p:txBody>
      </p:sp>
      <p:sp>
        <p:nvSpPr>
          <p:cNvPr id="12" name="Text 9"/>
          <p:cNvSpPr/>
          <p:nvPr/>
        </p:nvSpPr>
        <p:spPr>
          <a:xfrm>
            <a:off x="731520" y="415137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E1B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 direction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731520" y="439826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Warm, editorial, calm, culturally aware</a:t>
            </a:r>
            <a:endParaRPr lang="en-US" sz="690" dirty="0"/>
          </a:p>
        </p:txBody>
      </p:sp>
      <p:sp>
        <p:nvSpPr>
          <p:cNvPr id="14" name="Text 11"/>
          <p:cNvSpPr/>
          <p:nvPr/>
        </p:nvSpPr>
        <p:spPr>
          <a:xfrm>
            <a:off x="2542032" y="415137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E1B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templates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2542032" y="439826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fixed Canva/Figma formats</a:t>
            </a:r>
            <a:endParaRPr lang="en-US" sz="690" dirty="0"/>
          </a:p>
        </p:txBody>
      </p:sp>
      <p:sp>
        <p:nvSpPr>
          <p:cNvPr id="16" name="Text 13"/>
          <p:cNvSpPr/>
          <p:nvPr/>
        </p:nvSpPr>
        <p:spPr>
          <a:xfrm>
            <a:off x="4352544" y="415137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E1B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assets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4352544" y="439826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kit, pitch deck, campaign one-pagers</a:t>
            </a:r>
            <a:endParaRPr lang="en-US" sz="690" dirty="0"/>
          </a:p>
        </p:txBody>
      </p:sp>
      <p:sp>
        <p:nvSpPr>
          <p:cNvPr id="18" name="Shape 15"/>
          <p:cNvSpPr/>
          <p:nvPr/>
        </p:nvSpPr>
        <p:spPr>
          <a:xfrm>
            <a:off x="658368" y="6153912"/>
            <a:ext cx="10881360" cy="0"/>
          </a:xfrm>
          <a:prstGeom prst="line">
            <a:avLst/>
          </a:prstGeom>
          <a:noFill/>
          <a:ln w="10160">
            <a:solidFill>
              <a:srgbClr val="D9D0B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6345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ARAHKAII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92840" y="6355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SYSTEM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fixed Canva/Figma templates — no more designing from scratch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874520"/>
            <a:ext cx="63093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speed and consistency: every post starts from a proven editorial layout, then adapts content, imagery and headline only.</a:t>
            </a:r>
            <a:endParaRPr lang="en-US" sz="1120" dirty="0"/>
          </a:p>
        </p:txBody>
      </p:sp>
      <p:pic>
        <p:nvPicPr>
          <p:cNvPr id="5" name="Image 0" descr="/mnt/data/a_clean_graphic_design_mockup_image_showing_a_set.png">    </p:cNvPr>
          <p:cNvPicPr>
            <a:picLocks noChangeAspect="1"/>
          </p:cNvPicPr>
          <p:nvPr/>
        </p:nvPicPr>
        <p:blipFill>
          <a:blip r:embed="rId1"/>
          <a:srcRect l="50000" r="-55896" t="48000" b="-33000"/>
          <a:stretch/>
        </p:blipFill>
        <p:spPr>
          <a:xfrm>
            <a:off x="777240" y="2670048"/>
            <a:ext cx="5468112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56832" y="2779776"/>
            <a:ext cx="274320" cy="274320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56832" y="284835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7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60" dirty="0"/>
          </a:p>
        </p:txBody>
      </p:sp>
      <p:sp>
        <p:nvSpPr>
          <p:cNvPr id="8" name="Text 5"/>
          <p:cNvSpPr/>
          <p:nvPr/>
        </p:nvSpPr>
        <p:spPr>
          <a:xfrm>
            <a:off x="7040880" y="276148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Editorial Carousel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6656832" y="3310128"/>
            <a:ext cx="274320" cy="274320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56832" y="337870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7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60" dirty="0"/>
          </a:p>
        </p:txBody>
      </p:sp>
      <p:sp>
        <p:nvSpPr>
          <p:cNvPr id="11" name="Text 8"/>
          <p:cNvSpPr/>
          <p:nvPr/>
        </p:nvSpPr>
        <p:spPr>
          <a:xfrm>
            <a:off x="7040880" y="32918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Profile</a:t>
            </a:r>
            <a:endParaRPr lang="en-US" sz="1230" dirty="0"/>
          </a:p>
        </p:txBody>
      </p:sp>
      <p:sp>
        <p:nvSpPr>
          <p:cNvPr id="12" name="Shape 9"/>
          <p:cNvSpPr/>
          <p:nvPr/>
        </p:nvSpPr>
        <p:spPr>
          <a:xfrm>
            <a:off x="6656832" y="3840480"/>
            <a:ext cx="274320" cy="274320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390906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7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60" dirty="0"/>
          </a:p>
        </p:txBody>
      </p:sp>
      <p:sp>
        <p:nvSpPr>
          <p:cNvPr id="14" name="Text 11"/>
          <p:cNvSpPr/>
          <p:nvPr/>
        </p:nvSpPr>
        <p:spPr>
          <a:xfrm>
            <a:off x="7040880" y="38221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Quote Post</a:t>
            </a:r>
            <a:endParaRPr lang="en-US" sz="1230" dirty="0"/>
          </a:p>
        </p:txBody>
      </p:sp>
      <p:sp>
        <p:nvSpPr>
          <p:cNvPr id="15" name="Shape 12"/>
          <p:cNvSpPr/>
          <p:nvPr/>
        </p:nvSpPr>
        <p:spPr>
          <a:xfrm>
            <a:off x="6656832" y="4370832"/>
            <a:ext cx="274320" cy="274320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56832" y="443941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7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560" dirty="0"/>
          </a:p>
        </p:txBody>
      </p:sp>
      <p:sp>
        <p:nvSpPr>
          <p:cNvPr id="17" name="Text 14"/>
          <p:cNvSpPr/>
          <p:nvPr/>
        </p:nvSpPr>
        <p:spPr>
          <a:xfrm>
            <a:off x="7040880" y="435254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Reel Cover</a:t>
            </a:r>
            <a:endParaRPr lang="en-US" sz="1230" dirty="0"/>
          </a:p>
        </p:txBody>
      </p:sp>
      <p:sp>
        <p:nvSpPr>
          <p:cNvPr id="18" name="Shape 15"/>
          <p:cNvSpPr/>
          <p:nvPr/>
        </p:nvSpPr>
        <p:spPr>
          <a:xfrm>
            <a:off x="6656832" y="4901184"/>
            <a:ext cx="274320" cy="274320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56832" y="4969764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7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560" dirty="0"/>
          </a:p>
        </p:txBody>
      </p:sp>
      <p:sp>
        <p:nvSpPr>
          <p:cNvPr id="20" name="Text 17"/>
          <p:cNvSpPr/>
          <p:nvPr/>
        </p:nvSpPr>
        <p:spPr>
          <a:xfrm>
            <a:off x="7040880" y="488289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Dining Guide</a:t>
            </a:r>
            <a:endParaRPr lang="en-US" sz="1230" dirty="0"/>
          </a:p>
        </p:txBody>
      </p:sp>
      <p:sp>
        <p:nvSpPr>
          <p:cNvPr id="21" name="Shape 18"/>
          <p:cNvSpPr/>
          <p:nvPr/>
        </p:nvSpPr>
        <p:spPr>
          <a:xfrm>
            <a:off x="8851392" y="2779776"/>
            <a:ext cx="274320" cy="274320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51392" y="284835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7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560" dirty="0"/>
          </a:p>
        </p:txBody>
      </p:sp>
      <p:sp>
        <p:nvSpPr>
          <p:cNvPr id="23" name="Text 20"/>
          <p:cNvSpPr/>
          <p:nvPr/>
        </p:nvSpPr>
        <p:spPr>
          <a:xfrm>
            <a:off x="9235440" y="276148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/ City Guide</a:t>
            </a:r>
            <a:endParaRPr lang="en-US" sz="1230" dirty="0"/>
          </a:p>
        </p:txBody>
      </p:sp>
      <p:sp>
        <p:nvSpPr>
          <p:cNvPr id="24" name="Shape 21"/>
          <p:cNvSpPr/>
          <p:nvPr/>
        </p:nvSpPr>
        <p:spPr>
          <a:xfrm>
            <a:off x="8851392" y="3310128"/>
            <a:ext cx="274320" cy="274320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851392" y="337870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7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560" dirty="0"/>
          </a:p>
        </p:txBody>
      </p:sp>
      <p:sp>
        <p:nvSpPr>
          <p:cNvPr id="26" name="Text 23"/>
          <p:cNvSpPr/>
          <p:nvPr/>
        </p:nvSpPr>
        <p:spPr>
          <a:xfrm>
            <a:off x="9235440" y="32918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 / Fashion</a:t>
            </a:r>
            <a:endParaRPr lang="en-US" sz="1230" dirty="0"/>
          </a:p>
        </p:txBody>
      </p:sp>
      <p:sp>
        <p:nvSpPr>
          <p:cNvPr id="27" name="Shape 24"/>
          <p:cNvSpPr/>
          <p:nvPr/>
        </p:nvSpPr>
        <p:spPr>
          <a:xfrm>
            <a:off x="8851392" y="3840480"/>
            <a:ext cx="274320" cy="274320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851392" y="390906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7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560" dirty="0"/>
          </a:p>
        </p:txBody>
      </p:sp>
      <p:sp>
        <p:nvSpPr>
          <p:cNvPr id="29" name="Text 26"/>
          <p:cNvSpPr/>
          <p:nvPr/>
        </p:nvSpPr>
        <p:spPr>
          <a:xfrm>
            <a:off x="9235440" y="38221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Newsletter Promo</a:t>
            </a:r>
            <a:endParaRPr lang="en-US" sz="1230" dirty="0"/>
          </a:p>
        </p:txBody>
      </p:sp>
      <p:sp>
        <p:nvSpPr>
          <p:cNvPr id="30" name="Shape 27"/>
          <p:cNvSpPr/>
          <p:nvPr/>
        </p:nvSpPr>
        <p:spPr>
          <a:xfrm>
            <a:off x="8851392" y="4370832"/>
            <a:ext cx="274320" cy="274320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851392" y="443941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7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560" dirty="0"/>
          </a:p>
        </p:txBody>
      </p:sp>
      <p:sp>
        <p:nvSpPr>
          <p:cNvPr id="32" name="Text 29"/>
          <p:cNvSpPr/>
          <p:nvPr/>
        </p:nvSpPr>
        <p:spPr>
          <a:xfrm>
            <a:off x="9235440" y="435254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Infographic</a:t>
            </a:r>
            <a:endParaRPr lang="en-US" sz="1230" dirty="0"/>
          </a:p>
        </p:txBody>
      </p:sp>
      <p:sp>
        <p:nvSpPr>
          <p:cNvPr id="33" name="Shape 30"/>
          <p:cNvSpPr/>
          <p:nvPr/>
        </p:nvSpPr>
        <p:spPr>
          <a:xfrm>
            <a:off x="8851392" y="4901184"/>
            <a:ext cx="274320" cy="274320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851392" y="4969764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7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560" dirty="0"/>
          </a:p>
        </p:txBody>
      </p:sp>
      <p:sp>
        <p:nvSpPr>
          <p:cNvPr id="35" name="Text 32"/>
          <p:cNvSpPr/>
          <p:nvPr/>
        </p:nvSpPr>
        <p:spPr>
          <a:xfrm>
            <a:off x="9235440" y="488289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Spotlight</a:t>
            </a:r>
            <a:endParaRPr lang="en-US" sz="1230" dirty="0"/>
          </a:p>
        </p:txBody>
      </p:sp>
      <p:sp>
        <p:nvSpPr>
          <p:cNvPr id="36" name="Shape 33"/>
          <p:cNvSpPr/>
          <p:nvPr/>
        </p:nvSpPr>
        <p:spPr>
          <a:xfrm>
            <a:off x="658368" y="6153912"/>
            <a:ext cx="10881360" cy="0"/>
          </a:xfrm>
          <a:prstGeom prst="line">
            <a:avLst/>
          </a:prstGeom>
          <a:noFill/>
          <a:ln w="10160">
            <a:solidFill>
              <a:srgbClr val="D9D0B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8368" y="6345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ARAHKAII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292840" y="6355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PLAYBOOK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template to use, when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49808" y="1993392"/>
            <a:ext cx="10607040" cy="347472"/>
          </a:xfrm>
          <a:prstGeom prst="rect">
            <a:avLst/>
          </a:prstGeom>
          <a:solidFill>
            <a:srgbClr val="3F4A36"/>
          </a:solidFill>
          <a:ln w="12700">
            <a:solidFill>
              <a:srgbClr val="3F4A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093976"/>
            <a:ext cx="2834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7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4178808" y="2093976"/>
            <a:ext cx="3291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7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7790688" y="2093976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7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749808" y="2386584"/>
            <a:ext cx="10607040" cy="0"/>
          </a:xfrm>
          <a:prstGeom prst="line">
            <a:avLst/>
          </a:prstGeom>
          <a:noFill/>
          <a:ln w="8890">
            <a:solidFill>
              <a:srgbClr val="D9D0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4963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Editorial Carousel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78808" y="24963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Guides, explainers, listicles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7790688" y="24963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 carousel, LinkedIn PDF, Pinterest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749808" y="2953512"/>
            <a:ext cx="10607040" cy="0"/>
          </a:xfrm>
          <a:prstGeom prst="line">
            <a:avLst/>
          </a:prstGeom>
          <a:noFill/>
          <a:ln w="8890">
            <a:solidFill>
              <a:srgbClr val="D9D0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0632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Profile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78808" y="306324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Founder, designer, actor profiles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7790688" y="306324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 carousel, article lead, newsletter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749808" y="3520440"/>
            <a:ext cx="10607040" cy="0"/>
          </a:xfrm>
          <a:prstGeom prst="line">
            <a:avLst/>
          </a:prstGeom>
          <a:noFill/>
          <a:ln w="8890">
            <a:solidFill>
              <a:srgbClr val="D9D0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6301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Dining Guide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78808" y="363016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Halal, cafe, dessert and evening guides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7790688" y="363016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 carousel, article, Google Discover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749808" y="4087368"/>
            <a:ext cx="10607040" cy="0"/>
          </a:xfrm>
          <a:prstGeom prst="line">
            <a:avLst/>
          </a:prstGeom>
          <a:noFill/>
          <a:ln w="8890">
            <a:solidFill>
              <a:srgbClr val="D9D0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19709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Reel Cover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78808" y="419709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Short-form video series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7790688" y="419709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Reels, TikTok, Shorts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749808" y="4654296"/>
            <a:ext cx="10607040" cy="0"/>
          </a:xfrm>
          <a:prstGeom prst="line">
            <a:avLst/>
          </a:prstGeom>
          <a:noFill/>
          <a:ln w="8890">
            <a:solidFill>
              <a:srgbClr val="D9D0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47640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Newsletter Promo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178808" y="476402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Subscriber acquisition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7790688" y="476402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Instagram, site popups, email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749808" y="5221224"/>
            <a:ext cx="10607040" cy="0"/>
          </a:xfrm>
          <a:prstGeom prst="line">
            <a:avLst/>
          </a:prstGeom>
          <a:noFill/>
          <a:ln w="8890">
            <a:solidFill>
              <a:srgbClr val="D9D0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53309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Spotlight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178808" y="5330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campaign or product feature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7790688" y="5330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Social, pitch deck, paid boost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932688" y="5696712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4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Result: faster output, tighter brand memory, cleaner client approvals and a premium look across all channels.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58368" y="6153912"/>
            <a:ext cx="10881360" cy="0"/>
          </a:xfrm>
          <a:prstGeom prst="line">
            <a:avLst/>
          </a:prstGeom>
          <a:noFill/>
          <a:ln w="10160">
            <a:solidFill>
              <a:srgbClr val="D9D0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6345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ARAHKAII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92840" y="6355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PARTNERSHIP PACKAGE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to partner with Arahkaii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755648"/>
            <a:ext cx="55778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Packages can be sold as editorial media placement, brand strategy services, or a hybrid campaign that gives the client assets and audience reach.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786384" y="2834640"/>
            <a:ext cx="3246120" cy="2423160"/>
          </a:xfrm>
          <a:prstGeom prst="rect">
            <a:avLst/>
          </a:prstGeom>
          <a:solidFill>
            <a:srgbClr val="F4F0E7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4984" y="306324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Feature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14984" y="349300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ONE-OFF EDITORIAL STORY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1014984" y="3858768"/>
            <a:ext cx="27889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interview, feature article, social rollout, newsletter placement, SEO optimisation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1014984" y="4782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$4,800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35424" y="2834640"/>
            <a:ext cx="3246120" cy="2423160"/>
          </a:xfrm>
          <a:prstGeom prst="rect">
            <a:avLst/>
          </a:prstGeom>
          <a:solidFill>
            <a:srgbClr val="1E1B18"/>
          </a:solidFill>
          <a:ln w="10160">
            <a:solidFill>
              <a:srgbClr val="1E1B18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64024" y="306324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Campaign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4024" y="349300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C5A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GROWTH PACKAGE</a:t>
            </a:r>
            <a:endParaRPr lang="en-US" sz="660" dirty="0"/>
          </a:p>
        </p:txBody>
      </p:sp>
      <p:sp>
        <p:nvSpPr>
          <p:cNvPr id="13" name="Text 11"/>
          <p:cNvSpPr/>
          <p:nvPr/>
        </p:nvSpPr>
        <p:spPr>
          <a:xfrm>
            <a:off x="4764024" y="3858768"/>
            <a:ext cx="27889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D8D0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features, 10 social assets, landing page, newsletter placements, monthly reporting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4764024" y="4782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$9,500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84464" y="2834640"/>
            <a:ext cx="3246120" cy="2423160"/>
          </a:xfrm>
          <a:prstGeom prst="rect">
            <a:avLst/>
          </a:prstGeom>
          <a:solidFill>
            <a:srgbClr val="F4F0E7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13064" y="306324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Partnership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13064" y="349300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ALWAYS-ON BRAND PLATFORM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8513064" y="3858768"/>
            <a:ext cx="27889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content calendar, templates, features, social, newsletter, performance review</a:t>
            </a:r>
            <a:endParaRPr lang="en-US" sz="810" dirty="0"/>
          </a:p>
        </p:txBody>
      </p:sp>
      <p:sp>
        <p:nvSpPr>
          <p:cNvPr id="19" name="Text 17"/>
          <p:cNvSpPr/>
          <p:nvPr/>
        </p:nvSpPr>
        <p:spPr>
          <a:xfrm>
            <a:off x="8513064" y="4782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6153912"/>
            <a:ext cx="10881360" cy="0"/>
          </a:xfrm>
          <a:prstGeom prst="line">
            <a:avLst/>
          </a:prstGeom>
          <a:noFill/>
          <a:ln w="10160">
            <a:solidFill>
              <a:srgbClr val="D9D0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6345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ARAHKAII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92840" y="6355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DELIVERABLES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 campaign ecosystem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920240"/>
            <a:ext cx="5120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partnership is not a single post. It is a system that gives clients strategy, story, assets, distribution and reporting.</a:t>
            </a:r>
            <a:endParaRPr lang="en-US" sz="1200" dirty="0"/>
          </a:p>
        </p:txBody>
      </p:sp>
      <p:pic>
        <p:nvPicPr>
          <p:cNvPr id="5" name="Image 0" descr="/mnt/data/a_high_resolution_brand_board_style_guide_collag.png">    </p:cNvPr>
          <p:cNvPicPr>
            <a:picLocks noChangeAspect="1"/>
          </p:cNvPicPr>
          <p:nvPr/>
        </p:nvPicPr>
        <p:blipFill>
          <a:blip r:embed="rId1"/>
          <a:srcRect l="55000" r="-58758" t="55000" b="-35000"/>
          <a:stretch/>
        </p:blipFill>
        <p:spPr>
          <a:xfrm>
            <a:off x="6492240" y="594360"/>
            <a:ext cx="4892040" cy="2514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" y="3063240"/>
            <a:ext cx="2450592" cy="621792"/>
          </a:xfrm>
          <a:prstGeom prst="rect">
            <a:avLst/>
          </a:prstGeom>
          <a:solidFill>
            <a:srgbClr val="F4F0E7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3063240"/>
            <a:ext cx="45720" cy="621792"/>
          </a:xfrm>
          <a:prstGeom prst="rect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20954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Strategy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2121408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Positioning, audience, voice, messaging angle</a:t>
            </a:r>
            <a:endParaRPr lang="en-US" sz="840" dirty="0"/>
          </a:p>
        </p:txBody>
      </p:sp>
      <p:sp>
        <p:nvSpPr>
          <p:cNvPr id="10" name="Shape 7"/>
          <p:cNvSpPr/>
          <p:nvPr/>
        </p:nvSpPr>
        <p:spPr>
          <a:xfrm>
            <a:off x="3493008" y="3063240"/>
            <a:ext cx="2450592" cy="621792"/>
          </a:xfrm>
          <a:prstGeom prst="rect">
            <a:avLst/>
          </a:prstGeom>
          <a:solidFill>
            <a:srgbClr val="F4F0E7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93008" y="3063240"/>
            <a:ext cx="45720" cy="621792"/>
          </a:xfrm>
          <a:prstGeom prst="rect">
            <a:avLst/>
          </a:prstGeom>
          <a:solidFill>
            <a:srgbClr val="8C9274"/>
          </a:solidFill>
          <a:ln w="12700">
            <a:solidFill>
              <a:srgbClr val="8C927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0" y="320954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Production Kit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57600" y="3566160"/>
            <a:ext cx="2121408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 use, colour, typography, templates, image rules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749808" y="3840480"/>
            <a:ext cx="2450592" cy="621792"/>
          </a:xfrm>
          <a:prstGeom prst="rect">
            <a:avLst/>
          </a:prstGeom>
          <a:solidFill>
            <a:srgbClr val="F4F0E7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49808" y="3840480"/>
            <a:ext cx="45720" cy="621792"/>
          </a:xfrm>
          <a:prstGeom prst="rect">
            <a:avLst/>
          </a:prstGeom>
          <a:solidFill>
            <a:srgbClr val="B98B7D"/>
          </a:solidFill>
          <a:ln w="12700">
            <a:solidFill>
              <a:srgbClr val="B98B7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9867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Editorial Feature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4400" y="4343400"/>
            <a:ext cx="2121408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Long-form story, interview, SEO article, conversion links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3493008" y="3840480"/>
            <a:ext cx="2450592" cy="621792"/>
          </a:xfrm>
          <a:prstGeom prst="rect">
            <a:avLst/>
          </a:prstGeom>
          <a:solidFill>
            <a:srgbClr val="F4F0E7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93008" y="3840480"/>
            <a:ext cx="45720" cy="621792"/>
          </a:xfrm>
          <a:prstGeom prst="rect">
            <a:avLst/>
          </a:prstGeom>
          <a:solidFill>
            <a:srgbClr val="3F4A36"/>
          </a:solidFill>
          <a:ln w="12700">
            <a:solidFill>
              <a:srgbClr val="3F4A3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0" y="39867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System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657600" y="4343400"/>
            <a:ext cx="2121408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fixed templates, captions, reel covers, carousel layouts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749808" y="4617720"/>
            <a:ext cx="2450592" cy="621792"/>
          </a:xfrm>
          <a:prstGeom prst="rect">
            <a:avLst/>
          </a:prstGeom>
          <a:solidFill>
            <a:srgbClr val="F4F0E7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49808" y="4617720"/>
            <a:ext cx="45720" cy="621792"/>
          </a:xfrm>
          <a:prstGeom prst="rect">
            <a:avLst/>
          </a:prstGeom>
          <a:solidFill>
            <a:srgbClr val="6B4E3D"/>
          </a:solidFill>
          <a:ln w="12700">
            <a:solidFill>
              <a:srgbClr val="6B4E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400" y="476402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Newsletter Placement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5120640"/>
            <a:ext cx="2121408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Curated send to aligned readers with campaign CTA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3493008" y="4617720"/>
            <a:ext cx="2450592" cy="621792"/>
          </a:xfrm>
          <a:prstGeom prst="rect">
            <a:avLst/>
          </a:prstGeom>
          <a:solidFill>
            <a:srgbClr val="F4F0E7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493008" y="4617720"/>
            <a:ext cx="45720" cy="621792"/>
          </a:xfrm>
          <a:prstGeom prst="rect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0" y="476402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657600" y="5120640"/>
            <a:ext cx="2121408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summary, traffic, engagement, recommended next steps</a:t>
            </a:r>
            <a:endParaRPr lang="en-US" sz="840" dirty="0"/>
          </a:p>
        </p:txBody>
      </p:sp>
      <p:sp>
        <p:nvSpPr>
          <p:cNvPr id="30" name="Shape 27"/>
          <p:cNvSpPr/>
          <p:nvPr/>
        </p:nvSpPr>
        <p:spPr>
          <a:xfrm>
            <a:off x="658368" y="6153912"/>
            <a:ext cx="10881360" cy="0"/>
          </a:xfrm>
          <a:prstGeom prst="line">
            <a:avLst/>
          </a:prstGeom>
          <a:noFill/>
          <a:ln w="10160">
            <a:solidFill>
              <a:srgbClr val="D9D0B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8368" y="6345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ARAHKAII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92840" y="6355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PARTNERS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Brands that fit the Arahkaii audience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874520"/>
            <a:ext cx="50749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best-fit clients are premium, thoughtful and values-aligned. They want trust, not just impressions.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10528" y="841248"/>
            <a:ext cx="2148840" cy="1143000"/>
          </a:xfrm>
          <a:prstGeom prst="rect">
            <a:avLst/>
          </a:prstGeom>
          <a:solidFill>
            <a:srgbClr val="F7F1E8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93408" y="1024128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Hospitality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93408" y="1362456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Boutique hotels, resorts, Muslim-friendly stays</a:t>
            </a:r>
            <a:endParaRPr lang="en-US" sz="770" dirty="0"/>
          </a:p>
        </p:txBody>
      </p:sp>
      <p:sp>
        <p:nvSpPr>
          <p:cNvPr id="8" name="Shape 6"/>
          <p:cNvSpPr/>
          <p:nvPr/>
        </p:nvSpPr>
        <p:spPr>
          <a:xfrm>
            <a:off x="8842248" y="841248"/>
            <a:ext cx="2148840" cy="1143000"/>
          </a:xfrm>
          <a:prstGeom prst="rect">
            <a:avLst/>
          </a:prstGeom>
          <a:solidFill>
            <a:srgbClr val="F7F1E8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025128" y="1024128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Dining &amp; Dessert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025128" y="1362456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Halal restaurants, cafes, patisseries, tea, matcha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6510528" y="2414016"/>
            <a:ext cx="2148840" cy="1143000"/>
          </a:xfrm>
          <a:prstGeom prst="rect">
            <a:avLst/>
          </a:prstGeom>
          <a:solidFill>
            <a:srgbClr val="F7F1E8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93408" y="2596896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Fashion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93408" y="2935224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Modest luxury, Asian designers, occasionwear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8842248" y="2414016"/>
            <a:ext cx="2148840" cy="1143000"/>
          </a:xfrm>
          <a:prstGeom prst="rect">
            <a:avLst/>
          </a:prstGeom>
          <a:solidFill>
            <a:srgbClr val="F7F1E8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25128" y="2596896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Beauty &amp; Wellness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025128" y="2935224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Facials, scalp treatments, clean beauty, spas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6510528" y="3986784"/>
            <a:ext cx="2148840" cy="1143000"/>
          </a:xfrm>
          <a:prstGeom prst="rect">
            <a:avLst/>
          </a:prstGeom>
          <a:solidFill>
            <a:srgbClr val="F7F1E8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93408" y="4169664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&amp; City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93408" y="4507992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JB, KL, Bali, Bangkok, Penang guides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8842248" y="3986784"/>
            <a:ext cx="2148840" cy="1143000"/>
          </a:xfrm>
          <a:prstGeom prst="rect">
            <a:avLst/>
          </a:prstGeom>
          <a:solidFill>
            <a:srgbClr val="F7F1E8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025128" y="4169664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&amp; Living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025128" y="4507992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Ceramics, interiors, hosting, thoughtful gifting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822960" y="5230368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4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 filter: premium enough • useful to readers • values-aligned • no alcohol/nightlife/gambling/adult adjacency.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" y="6153912"/>
            <a:ext cx="10881360" cy="0"/>
          </a:xfrm>
          <a:prstGeom prst="line">
            <a:avLst/>
          </a:prstGeom>
          <a:noFill/>
          <a:ln w="10160">
            <a:solidFill>
              <a:srgbClr val="D9D0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6345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ARAHKAII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92840" y="6355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WORK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four-stage editorial campaign workflow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847088"/>
            <a:ext cx="52120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enough for clients to understand. Structured enough for your team to execute repeatedly.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304288" cy="2011680"/>
          </a:xfrm>
          <a:prstGeom prst="rect">
            <a:avLst/>
          </a:prstGeom>
          <a:solidFill>
            <a:srgbClr val="F7F1E8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31272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5A4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1832" y="35844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832" y="404164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audit, audience, values filter, offer clarity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520440" y="2926080"/>
            <a:ext cx="2304288" cy="2011680"/>
          </a:xfrm>
          <a:prstGeom prst="rect">
            <a:avLst/>
          </a:prstGeom>
          <a:solidFill>
            <a:srgbClr val="E8DCCB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30752" y="31272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5A4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30752" y="35844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30752" y="404164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 angle, editorial story, content calendar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6309360" y="2926080"/>
            <a:ext cx="2304288" cy="2011680"/>
          </a:xfrm>
          <a:prstGeom prst="rect">
            <a:avLst/>
          </a:prstGeom>
          <a:solidFill>
            <a:srgbClr val="F7F1E8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9672" y="31272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5A4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19672" y="35844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19672" y="404164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Photography direction, copy, templates, social assets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9098280" y="2926080"/>
            <a:ext cx="2304288" cy="2011680"/>
          </a:xfrm>
          <a:prstGeom prst="rect">
            <a:avLst/>
          </a:prstGeom>
          <a:solidFill>
            <a:srgbClr val="F7F1E8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08592" y="31272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5A4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08592" y="35844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Amplify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08592" y="404164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Publish, newsletter, social rollout, reporting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58368" y="6153912"/>
            <a:ext cx="10881360" cy="0"/>
          </a:xfrm>
          <a:prstGeom prst="line">
            <a:avLst/>
          </a:prstGeom>
          <a:noFill/>
          <a:ln w="10160">
            <a:solidFill>
              <a:srgbClr val="D9D0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6345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ARAHKAII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92840" y="6355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REPORTING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storytelling with measurable outcomes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901952"/>
            <a:ext cx="53492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partnership should end with a simple report: what was published, how it performed, and what the next growth opportunity is.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6446520" y="822960"/>
            <a:ext cx="4983480" cy="4480560"/>
          </a:xfrm>
          <a:prstGeom prst="rect">
            <a:avLst/>
          </a:prstGeom>
          <a:solidFill>
            <a:srgbClr val="F4F0E7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2252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675120" y="17007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EDITORIAL ASSETS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8366760" y="12252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366760" y="170078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ASSETS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9921240" y="12252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921240" y="170078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NEWSLETTER SEND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720840" y="2670048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85432" y="26060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Organic sessions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720840" y="2980944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85432" y="291693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impressions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720840" y="3291840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85432" y="322783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Newsletter clicks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720840" y="3602736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5432" y="35387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saves/shares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720840" y="3913632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85432" y="384962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enquiries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720840" y="4224528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432" y="41605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actions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720840" y="4553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Client-facing dashboard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720840" y="48828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enough for founders, detailed enough for marketing teams.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58368" y="6153912"/>
            <a:ext cx="10881360" cy="0"/>
          </a:xfrm>
          <a:prstGeom prst="line">
            <a:avLst/>
          </a:prstGeom>
          <a:noFill/>
          <a:ln w="10160">
            <a:solidFill>
              <a:srgbClr val="D9D0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6345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ARAHKAII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92840" y="6355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 RECOMMENDATIONS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add to the current partner page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874520"/>
            <a:ext cx="52120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uploaded HTML concept already has a polished editorial studio feel. These additions make it more conversion-ready for potential partners.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46520" y="822960"/>
            <a:ext cx="2148840" cy="1024128"/>
          </a:xfrm>
          <a:prstGeom prst="rect">
            <a:avLst/>
          </a:prstGeom>
          <a:solidFill>
            <a:srgbClr val="F4F0E7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46520" y="822960"/>
            <a:ext cx="45720" cy="1024128"/>
          </a:xfrm>
          <a:prstGeom prst="rect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11112" y="96926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11112" y="1325880"/>
            <a:ext cx="181965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reach, subscriber count, reader profile, geography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8778240" y="822960"/>
            <a:ext cx="2148840" cy="1024128"/>
          </a:xfrm>
          <a:prstGeom prst="rect">
            <a:avLst/>
          </a:prstGeom>
          <a:solidFill>
            <a:srgbClr val="F4F0E7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778240" y="822960"/>
            <a:ext cx="45720" cy="1024128"/>
          </a:xfrm>
          <a:prstGeom prst="rect">
            <a:avLst/>
          </a:prstGeom>
          <a:solidFill>
            <a:srgbClr val="8C9274"/>
          </a:solidFill>
          <a:ln w="12700">
            <a:solidFill>
              <a:srgbClr val="8C92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42832" y="96926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Values policy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42832" y="1325880"/>
            <a:ext cx="181965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halal/Muslim-conscious partnership boundaries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6446520" y="2350008"/>
            <a:ext cx="2148840" cy="1024128"/>
          </a:xfrm>
          <a:prstGeom prst="rect">
            <a:avLst/>
          </a:prstGeom>
          <a:solidFill>
            <a:srgbClr val="F4F0E7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2350008"/>
            <a:ext cx="45720" cy="1024128"/>
          </a:xfrm>
          <a:prstGeom prst="rect">
            <a:avLst/>
          </a:prstGeom>
          <a:solidFill>
            <a:srgbClr val="B98B7D"/>
          </a:solidFill>
          <a:ln w="12700">
            <a:solidFill>
              <a:srgbClr val="B98B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249631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format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11112" y="2852928"/>
            <a:ext cx="181965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Problem, story, assets created, results, testimonial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8778240" y="2350008"/>
            <a:ext cx="2148840" cy="1024128"/>
          </a:xfrm>
          <a:prstGeom prst="rect">
            <a:avLst/>
          </a:prstGeom>
          <a:solidFill>
            <a:srgbClr val="F4F0E7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778240" y="2350008"/>
            <a:ext cx="45720" cy="1024128"/>
          </a:xfrm>
          <a:prstGeom prst="rect">
            <a:avLst/>
          </a:prstGeom>
          <a:solidFill>
            <a:srgbClr val="3F4A36"/>
          </a:solidFill>
          <a:ln w="12700">
            <a:solidFill>
              <a:srgbClr val="3F4A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42832" y="249631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Package comparison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42832" y="2852928"/>
            <a:ext cx="181965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vs Campaign vs Partnership, with deliverables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446520" y="3877056"/>
            <a:ext cx="2148840" cy="1024128"/>
          </a:xfrm>
          <a:prstGeom prst="rect">
            <a:avLst/>
          </a:prstGeom>
          <a:solidFill>
            <a:srgbClr val="F4F0E7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3877056"/>
            <a:ext cx="45720" cy="1024128"/>
          </a:xfrm>
          <a:prstGeom prst="rect">
            <a:avLst/>
          </a:prstGeom>
          <a:solidFill>
            <a:srgbClr val="6B4E3D"/>
          </a:solidFill>
          <a:ln w="12700">
            <a:solidFill>
              <a:srgbClr val="6B4E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1112" y="402336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path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11112" y="4379976"/>
            <a:ext cx="181965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call CTA, short enquiry form, calendar link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8778240" y="3877056"/>
            <a:ext cx="2148840" cy="1024128"/>
          </a:xfrm>
          <a:prstGeom prst="rect">
            <a:avLst/>
          </a:prstGeom>
          <a:solidFill>
            <a:srgbClr val="F4F0E7"/>
          </a:solidFill>
          <a:ln w="10160">
            <a:solidFill>
              <a:srgbClr val="D9D0BE">
                <a:alpha val="7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778240" y="3877056"/>
            <a:ext cx="45720" cy="1024128"/>
          </a:xfrm>
          <a:prstGeom prst="rect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42832" y="402336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kit download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942832" y="4379976"/>
            <a:ext cx="181965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deck, rate card, template examples, brand rules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868680" y="53949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4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build priority: turn the partnership page into a conversion hub with proof, packages, clear fit, and a booked-call CTA.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8368" y="6153912"/>
            <a:ext cx="10881360" cy="0"/>
          </a:xfrm>
          <a:prstGeom prst="line">
            <a:avLst/>
          </a:prstGeom>
          <a:noFill/>
          <a:ln w="10160">
            <a:solidFill>
              <a:srgbClr val="D9D0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6345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ARAHKAII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92840" y="6355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KIT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772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Files to create once, then reuse every week</a:t>
            </a:r>
            <a:endParaRPr lang="en-US" sz="3400" dirty="0"/>
          </a:p>
        </p:txBody>
      </p:sp>
      <p:pic>
        <p:nvPicPr>
          <p:cNvPr id="4" name="Image 0" descr="/mnt/data/a_clean_flat_lay_graphic_design_branding_present.png">    </p:cNvPr>
          <p:cNvPicPr>
            <a:picLocks noChangeAspect="1"/>
          </p:cNvPicPr>
          <p:nvPr/>
        </p:nvPicPr>
        <p:blipFill>
          <a:blip r:embed="rId1"/>
          <a:srcRect l="50000" r="-38949" t="50000" b="-32000"/>
          <a:stretch/>
        </p:blipFill>
        <p:spPr>
          <a:xfrm>
            <a:off x="731520" y="2057400"/>
            <a:ext cx="4389120" cy="2697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755648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71032" y="16916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 pack: PNG, SVG, black, ivory, monogram, stamp</a:t>
            </a:r>
            <a:endParaRPr lang="en-US" sz="880" dirty="0"/>
          </a:p>
        </p:txBody>
      </p:sp>
      <p:sp>
        <p:nvSpPr>
          <p:cNvPr id="7" name="Shape 4"/>
          <p:cNvSpPr/>
          <p:nvPr/>
        </p:nvSpPr>
        <p:spPr>
          <a:xfrm>
            <a:off x="5806440" y="2139696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71032" y="207568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 styles: HEX codes and usage rules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5806440" y="2523744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71032" y="245973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 styles: H1/H2/body/caption/social headline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5806440" y="2907792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71032" y="284378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Canva/Figma templates with locked guides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5806440" y="3291840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71032" y="322783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Reel cover system and thumbnail rules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5806440" y="3675888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71032" y="36118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Newsletter template and header graphics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5806440" y="4059936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71032" y="39959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feature one-pager and media kit PDF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5806440" y="4443984"/>
            <a:ext cx="73152" cy="73152"/>
          </a:xfrm>
          <a:prstGeom prst="ellipse">
            <a:avLst/>
          </a:prstGeom>
          <a:solidFill>
            <a:srgbClr val="C5A46D"/>
          </a:solidFill>
          <a:ln w="12700">
            <a:solidFill>
              <a:srgbClr val="C5A46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71032" y="437997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B3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 report template and metrics dashboard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5806440" y="50474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6B4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operational layer that keeps the brand consistent even when multiple people are producing content.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58368" y="6153912"/>
            <a:ext cx="10881360" cy="0"/>
          </a:xfrm>
          <a:prstGeom prst="line">
            <a:avLst/>
          </a:prstGeom>
          <a:noFill/>
          <a:ln w="10160">
            <a:solidFill>
              <a:srgbClr val="D9D0B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345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ARAHKAII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92840" y="6355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4E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arm_sunlit_still_life_flatlay_scene_in_a_cozy.png">    </p:cNvPr>
          <p:cNvPicPr>
            <a:picLocks noChangeAspect="1"/>
          </p:cNvPicPr>
          <p:nvPr/>
        </p:nvPicPr>
        <p:blipFill>
          <a:blip r:embed="rId1"/>
          <a:srcRect l="50000" r="-40046" t="50000" b="-4000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18">
              <a:alpha val="76000"/>
            </a:srgbClr>
          </a:solidFill>
          <a:ln w="12700">
            <a:solidFill>
              <a:srgbClr val="1E1B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548640"/>
            <a:ext cx="10881360" cy="5715000"/>
          </a:xfrm>
          <a:prstGeom prst="rect">
            <a:avLst/>
          </a:prstGeom>
          <a:solidFill>
            <a:srgbClr val="000000">
              <a:alpha val="28000"/>
            </a:srgbClr>
          </a:solidFill>
          <a:ln w="10160">
            <a:solidFill>
              <a:srgbClr val="F7F1E8">
                <a:alpha val="3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8412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ARAHKAII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20116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build something beautiful together.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960120" y="3291840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EE5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next step: send this deck with a short email, then direct potential partners to a 20-minute discovery call.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60120" y="4343400"/>
            <a:ext cx="1874520" cy="292608"/>
          </a:xfrm>
          <a:prstGeom prst="roundRect">
            <a:avLst>
              <a:gd name="adj" fmla="val 12500"/>
            </a:avLst>
          </a:prstGeom>
          <a:solidFill>
            <a:srgbClr val="201E1B"/>
          </a:solidFill>
          <a:ln w="8890">
            <a:solidFill>
              <a:srgbClr val="C5A46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4421124"/>
            <a:ext cx="1746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C5A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PACKAGE PRICING</a:t>
            </a:r>
            <a:endParaRPr lang="en-US" sz="580" dirty="0"/>
          </a:p>
        </p:txBody>
      </p:sp>
      <p:sp>
        <p:nvSpPr>
          <p:cNvPr id="10" name="Shape 7"/>
          <p:cNvSpPr/>
          <p:nvPr/>
        </p:nvSpPr>
        <p:spPr>
          <a:xfrm>
            <a:off x="3118104" y="4343400"/>
            <a:ext cx="1874520" cy="292608"/>
          </a:xfrm>
          <a:prstGeom prst="roundRect">
            <a:avLst>
              <a:gd name="adj" fmla="val 12500"/>
            </a:avLst>
          </a:prstGeom>
          <a:solidFill>
            <a:srgbClr val="201E1B"/>
          </a:solidFill>
          <a:ln w="8890">
            <a:solidFill>
              <a:srgbClr val="C5A4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82112" y="4421124"/>
            <a:ext cx="1746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C5A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AUDIENCE PROOF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5276088" y="4343400"/>
            <a:ext cx="1874520" cy="292608"/>
          </a:xfrm>
          <a:prstGeom prst="roundRect">
            <a:avLst>
              <a:gd name="adj" fmla="val 12500"/>
            </a:avLst>
          </a:prstGeom>
          <a:solidFill>
            <a:srgbClr val="201E1B"/>
          </a:solidFill>
          <a:ln w="8890">
            <a:solidFill>
              <a:srgbClr val="C5A46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40096" y="4421124"/>
            <a:ext cx="1746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C5A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PDF MEDIA KIT</a:t>
            </a:r>
            <a:endParaRPr lang="en-US" sz="580" dirty="0"/>
          </a:p>
        </p:txBody>
      </p:sp>
      <p:sp>
        <p:nvSpPr>
          <p:cNvPr id="14" name="Shape 11"/>
          <p:cNvSpPr/>
          <p:nvPr/>
        </p:nvSpPr>
        <p:spPr>
          <a:xfrm>
            <a:off x="7434072" y="4343400"/>
            <a:ext cx="1874520" cy="292608"/>
          </a:xfrm>
          <a:prstGeom prst="roundRect">
            <a:avLst>
              <a:gd name="adj" fmla="val 12500"/>
            </a:avLst>
          </a:prstGeom>
          <a:solidFill>
            <a:srgbClr val="201E1B"/>
          </a:solidFill>
          <a:ln w="8890">
            <a:solidFill>
              <a:srgbClr val="C5A46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421124"/>
            <a:ext cx="1746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C5A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PARTNERSHIP LANDING PAGE</a:t>
            </a:r>
            <a:endParaRPr lang="en-US" sz="580" dirty="0"/>
          </a:p>
        </p:txBody>
      </p:sp>
      <p:sp>
        <p:nvSpPr>
          <p:cNvPr id="16" name="Text 13"/>
          <p:cNvSpPr/>
          <p:nvPr/>
        </p:nvSpPr>
        <p:spPr>
          <a:xfrm>
            <a:off x="960120" y="5669280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7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partnerships@arahkaii.com  •  arahkaii.com  •  @arahkaii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Arahkaii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Arahkaii Partnership Package</dc:title>
  <dc:subject>Arahkaii Partnership Package and Design Production Kit</dc:subject>
  <dc:creator>Arahkaii</dc:creator>
  <cp:lastModifiedBy>Arahkaii</cp:lastModifiedBy>
  <cp:revision>1</cp:revision>
  <dcterms:created xsi:type="dcterms:W3CDTF">2026-05-23T13:46:55Z</dcterms:created>
  <dcterms:modified xsi:type="dcterms:W3CDTF">2026-05-23T13:46:55Z</dcterms:modified>
</cp:coreProperties>
</file>